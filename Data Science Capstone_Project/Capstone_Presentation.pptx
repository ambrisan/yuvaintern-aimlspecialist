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Income above $50K by education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High-income rate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HS diploma</c:v>
                  </c:pt>
                  <c:pt idx="1">
                    <c:v>HS graduate</c:v>
                  </c:pt>
                  <c:pt idx="2">
                    <c:v>Some college/Assoc</c:v>
                  </c:pt>
                  <c:pt idx="3">
                    <c:v>Bachelors</c:v>
                  </c:pt>
                  <c:pt idx="4">
                    <c:v>Postgraduate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5.7</c:v>
                </c:pt>
                <c:pt idx="1">
                  <c:v>15.9</c:v>
                </c:pt>
                <c:pt idx="2">
                  <c:v>20.6</c:v>
                </c:pt>
                <c:pt idx="3">
                  <c:v>41.3</c:v>
                </c:pt>
                <c:pt idx="4">
                  <c:v>61.4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Income above $50K by age band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High-income rate (%)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17-24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</c:v>
                </c:pt>
                <c:pt idx="1">
                  <c:v>16.8</c:v>
                </c:pt>
                <c:pt idx="2">
                  <c:v>33.3</c:v>
                </c:pt>
                <c:pt idx="3">
                  <c:v>39.4</c:v>
                </c:pt>
                <c:pt idx="4">
                  <c:v>32.2</c:v>
                </c:pt>
                <c:pt idx="5">
                  <c:v>20.5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Income above $50K by hours and sex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Part-time (&lt;35)</c:v>
                  </c:pt>
                  <c:pt idx="1">
                    <c:v>Full-time (35-44)</c:v>
                  </c:pt>
                  <c:pt idx="2">
                    <c:v>Overtime (45+)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10.2</c:v>
                </c:pt>
                <c:pt idx="2">
                  <c:v>22.5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Part-time (&lt;35)</c:v>
                  </c:pt>
                  <c:pt idx="1">
                    <c:v>Full-time (35-44)</c:v>
                  </c:pt>
                  <c:pt idx="2">
                    <c:v>Overtime (45+)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26.6</c:v>
                </c:pt>
                <c:pt idx="2">
                  <c:v>44.6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Strength of association with income (Cramér's 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Cramér's V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Country</c:v>
                  </c:pt>
                  <c:pt idx="1">
                    <c:v>Race</c:v>
                  </c:pt>
                  <c:pt idx="2">
                    <c:v>Workclass</c:v>
                  </c:pt>
                  <c:pt idx="3">
                    <c:v>Sex</c:v>
                  </c:pt>
                  <c:pt idx="4">
                    <c:v>Hours band</c:v>
                  </c:pt>
                  <c:pt idx="5">
                    <c:v>Age band</c:v>
                  </c:pt>
                  <c:pt idx="6">
                    <c:v>Occupation</c:v>
                  </c:pt>
                  <c:pt idx="7">
                    <c:v>Education</c:v>
                  </c:pt>
                  <c:pt idx="8">
                    <c:v>Marital status</c:v>
                  </c:pt>
                  <c:pt idx="9">
                    <c:v>Relationship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0.06</c:v>
                </c:pt>
                <c:pt idx="1">
                  <c:v>0.1</c:v>
                </c:pt>
                <c:pt idx="2">
                  <c:v>0.15</c:v>
                </c:pt>
                <c:pt idx="3">
                  <c:v>0.21</c:v>
                </c:pt>
                <c:pt idx="4">
                  <c:v>0.27</c:v>
                </c:pt>
                <c:pt idx="5">
                  <c:v>0.31</c:v>
                </c:pt>
                <c:pt idx="6">
                  <c:v>0.35</c:v>
                </c:pt>
                <c:pt idx="7">
                  <c:v>0.37</c:v>
                </c:pt>
                <c:pt idx="8">
                  <c:v>0.45</c:v>
                </c:pt>
                <c:pt idx="9">
                  <c:v>0.45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0.6"/>
        </c:scaling>
        <c:delete val="0"/>
        <c:axPos val="b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Test ROC-AUC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Majority baseline</c:v>
                  </c:pt>
                  <c:pt idx="1">
                    <c:v>Logistic Regression</c:v>
                  </c:pt>
                  <c:pt idx="2">
                    <c:v>Random Forest</c:v>
                  </c:pt>
                  <c:pt idx="3">
                    <c:v>Hist Gradient 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0.905</c:v>
                </c:pt>
                <c:pt idx="2">
                  <c:v>0.918</c:v>
                </c:pt>
                <c:pt idx="3">
                  <c:v>0.929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Calibration: predicted vs observed, by probability bin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predicted</c:v>
                </c:pt>
              </c:strCache>
            </c:strRef>
          </c:tx>
          <c:spPr>
            <a:solidFill>
              <a:srgbClr val="6C757D"/>
            </a:solidFill>
            <a:ln w="38100" cap="flat">
              <a:solidFill>
                <a:srgbClr val="6C75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C757D"/>
              </a:solidFill>
              <a:ln w="9525" cap="flat">
                <a:solidFill>
                  <a:srgbClr val="6C75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0.03</c:v>
                  </c:pt>
                  <c:pt idx="1">
                    <c:v>0.14</c:v>
                  </c:pt>
                  <c:pt idx="2">
                    <c:v>0.25</c:v>
                  </c:pt>
                  <c:pt idx="3">
                    <c:v>0.35</c:v>
                  </c:pt>
                  <c:pt idx="4">
                    <c:v>0.45</c:v>
                  </c:pt>
                  <c:pt idx="5">
                    <c:v>0.55</c:v>
                  </c:pt>
                  <c:pt idx="6">
                    <c:v>0.65</c:v>
                  </c:pt>
                  <c:pt idx="7">
                    <c:v>0.74</c:v>
                  </c:pt>
                  <c:pt idx="8">
                    <c:v>0.83</c:v>
                  </c:pt>
                  <c:pt idx="9">
                    <c:v>0.98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0.025</c:v>
                </c:pt>
                <c:pt idx="1">
                  <c:v>0.144</c:v>
                </c:pt>
                <c:pt idx="2">
                  <c:v>0.248</c:v>
                </c:pt>
                <c:pt idx="3">
                  <c:v>0.353</c:v>
                </c:pt>
                <c:pt idx="4">
                  <c:v>0.45</c:v>
                </c:pt>
                <c:pt idx="5">
                  <c:v>0.549</c:v>
                </c:pt>
                <c:pt idx="6">
                  <c:v>0.65</c:v>
                </c:pt>
                <c:pt idx="7">
                  <c:v>0.744</c:v>
                </c:pt>
                <c:pt idx="8">
                  <c:v>0.835</c:v>
                </c:pt>
                <c:pt idx="9">
                  <c:v>0.982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rate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0.03</c:v>
                  </c:pt>
                  <c:pt idx="1">
                    <c:v>0.14</c:v>
                  </c:pt>
                  <c:pt idx="2">
                    <c:v>0.25</c:v>
                  </c:pt>
                  <c:pt idx="3">
                    <c:v>0.35</c:v>
                  </c:pt>
                  <c:pt idx="4">
                    <c:v>0.45</c:v>
                  </c:pt>
                  <c:pt idx="5">
                    <c:v>0.55</c:v>
                  </c:pt>
                  <c:pt idx="6">
                    <c:v>0.65</c:v>
                  </c:pt>
                  <c:pt idx="7">
                    <c:v>0.74</c:v>
                  </c:pt>
                  <c:pt idx="8">
                    <c:v>0.83</c:v>
                  </c:pt>
                  <c:pt idx="9">
                    <c:v>0.98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</c:v>
                </c:pt>
                <c:pt idx="1">
                  <c:v>0.149</c:v>
                </c:pt>
                <c:pt idx="2">
                  <c:v>0.274</c:v>
                </c:pt>
                <c:pt idx="3">
                  <c:v>0.351</c:v>
                </c:pt>
                <c:pt idx="4">
                  <c:v>0.377</c:v>
                </c:pt>
                <c:pt idx="5">
                  <c:v>0.546</c:v>
                </c:pt>
                <c:pt idx="6">
                  <c:v>0.635</c:v>
                </c:pt>
                <c:pt idx="7">
                  <c:v>0.783</c:v>
                </c:pt>
                <c:pt idx="8">
                  <c:v>0.908</c:v>
                </c:pt>
                <c:pt idx="9">
                  <c:v>0.99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C757D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C757D"/>
                    </a:solidFill>
                    <a:latin typeface="+mn-lt"/>
                  </a:rPr>
                  <a:t>Mean predicted probability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Model behaviour by sex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Actual rate</c:v>
                  </c:pt>
                  <c:pt idx="1">
                    <c:v>Selected</c:v>
                  </c:pt>
                  <c:pt idx="2">
                    <c:v>Found (TPR)</c:v>
                  </c:pt>
                  <c:pt idx="3">
                    <c:v>False positive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11.4</c:v>
                </c:pt>
                <c:pt idx="1">
                  <c:v>10.6</c:v>
                </c:pt>
                <c:pt idx="2">
                  <c:v>66.2</c:v>
                </c:pt>
                <c:pt idx="3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Actual rate</c:v>
                  </c:pt>
                  <c:pt idx="1">
                    <c:v>Selected</c:v>
                  </c:pt>
                  <c:pt idx="2">
                    <c:v>Found (TPR)</c:v>
                  </c:pt>
                  <c:pt idx="3">
                    <c:v>False positive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30.4</c:v>
                </c:pt>
                <c:pt idx="1">
                  <c:v>36.4</c:v>
                </c:pt>
                <c:pt idx="2">
                  <c:v>79.6</c:v>
                </c:pt>
                <c:pt idx="3">
                  <c:v>17.5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9E1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complete data-science workflow on UCI Adult census data, with equal weight on predictive performance and on auditing the model for bias and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group-level planning, not individual decisions. Success criteria were set up front and all were met (see later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missingness test (chi-square 342) shows these records are systematically different, so dropping them would bias the sample toward the employed.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threshold was picked from out-of-fold predictions, so the test numbers are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Dose-response: the rate rises at every step. Caveat: education correlates with family background, so this is association, not proven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explanation comes from marital status, hours and occupation, not from age or education alone. Occupation and hours may themselves reflect unequal opportunity, so 'explained' does not mean 'fair'.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48,000 rows everything is significant, so effect size (Cramér's V) is what ranks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beats logistic regression, which suggests non-linearity or interactions. Success criterion of AUC 0.85 is met comfortably. Honest note: grid search gave no gain over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Brier score 0.089 versus 0.182 for a constant forecast. Borderline cases should go to human review rather than being forced into a yes/no.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calibrated within each sex and precision is similar, yet selection and recall differ. Fairness criteria conflict when base rates differ, so choosing one is a policy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Group-specific thresholds can equalise recall (female 66% to 76%) with almost no loss in accuracy, but female false positives rise and using sex at prediction time can be legally problematic. It illustrates a trade-off, not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table with mitigations is in Section 8 of the report. Key point: these limits qualify every conclusion and define how the model may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1 is the most important: the audit shows the model is not suitable for deciding about individuals.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recommended use: limited, group-level and monitored.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Decor circle small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Kicker"/>
          <p:cNvSpPr txBox="1"/>
          <p:nvPr/>
        </p:nvSpPr>
        <p:spPr>
          <a:xfrm>
            <a:off x="548640" y="1234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Final Data Science Capstone</a:t>
            </a:r>
            <a:endParaRPr lang="en-US" sz="18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High Income, and Is Our Model Fair?</a:t>
            </a:r>
            <a:endParaRPr lang="en-US" sz="38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32004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8"/>
                </a:solidFill>
              </a:rPr>
              <a:t>Analysis, prediction and a fairness audit of 48,790 US census records</a:t>
            </a:r>
            <a:endParaRPr lang="en-US" sz="1600" dirty="0"/>
          </a:p>
        </p:txBody>
      </p:sp>
      <p:sp>
        <p:nvSpPr>
          <p:cNvPr id="7" name="Byline"/>
          <p:cNvSpPr txBox="1"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Ambrisan  |  Yuva Intern, AI/ML Research Specialist Internship  |  Task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 and our goals</a:t>
            </a:r>
            <a:endParaRPr lang="en-US" sz="30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</a:rPr>
              <a:t>A workforce-development agency wants to know what is associated with earning above $50K, whether a model can help plan programmes, and whether that model is safe to use.</a:t>
            </a:r>
            <a:endParaRPr lang="en-US" sz="1600" dirty="0"/>
          </a:p>
        </p:txBody>
      </p:sp>
      <p:sp>
        <p:nvSpPr>
          <p:cNvPr id="4" name="Goal card 1"/>
          <p:cNvSpPr/>
          <p:nvPr/>
        </p:nvSpPr>
        <p:spPr>
          <a:xfrm>
            <a:off x="457200" y="1920240"/>
            <a:ext cx="26060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Goal icon 1 circle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Goal icon 1" descr="Goal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Goal title 1"/>
          <p:cNvSpPr txBox="1"/>
          <p:nvPr/>
        </p:nvSpPr>
        <p:spPr>
          <a:xfrm>
            <a:off x="132588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8" name="Goal text 1"/>
          <p:cNvSpPr txBox="1"/>
          <p:nvPr/>
        </p:nvSpPr>
        <p:spPr>
          <a:xfrm>
            <a:off x="64008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Which factors matter, how strongly, and why? Statistical tests with effect sizes.</a:t>
            </a:r>
            <a:endParaRPr lang="en-US" sz="1400" dirty="0"/>
          </a:p>
        </p:txBody>
      </p:sp>
      <p:sp>
        <p:nvSpPr>
          <p:cNvPr id="9" name="Goal card 2"/>
          <p:cNvSpPr/>
          <p:nvPr/>
        </p:nvSpPr>
        <p:spPr>
          <a:xfrm>
            <a:off x="3246120" y="1920240"/>
            <a:ext cx="26060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Goal icon 2 circle"/>
          <p:cNvSpPr/>
          <p:nvPr/>
        </p:nvSpPr>
        <p:spPr>
          <a:xfrm>
            <a:off x="3429000" y="21031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Goal icon 2" descr="Goal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40280"/>
            <a:ext cx="274320" cy="274320"/>
          </a:xfrm>
          <a:prstGeom prst="rect">
            <a:avLst/>
          </a:prstGeom>
        </p:spPr>
      </p:pic>
      <p:sp>
        <p:nvSpPr>
          <p:cNvPr id="12" name="Goal title 2"/>
          <p:cNvSpPr txBox="1"/>
          <p:nvPr/>
        </p:nvSpPr>
        <p:spPr>
          <a:xfrm>
            <a:off x="411480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000" dirty="0"/>
          </a:p>
        </p:txBody>
      </p:sp>
      <p:sp>
        <p:nvSpPr>
          <p:cNvPr id="13" name="Goal text 2"/>
          <p:cNvSpPr txBox="1"/>
          <p:nvPr/>
        </p:nvSpPr>
        <p:spPr>
          <a:xfrm>
            <a:off x="342900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Compare four models; check calibration and uncertainty.</a:t>
            </a:r>
            <a:endParaRPr lang="en-US" sz="1400" dirty="0"/>
          </a:p>
        </p:txBody>
      </p:sp>
      <p:sp>
        <p:nvSpPr>
          <p:cNvPr id="14" name="Goal card 3"/>
          <p:cNvSpPr/>
          <p:nvPr/>
        </p:nvSpPr>
        <p:spPr>
          <a:xfrm>
            <a:off x="6035040" y="1920240"/>
            <a:ext cx="26060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Goal icon 3 circle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Goal icon 3" descr="Goal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40280"/>
            <a:ext cx="274320" cy="274320"/>
          </a:xfrm>
          <a:prstGeom prst="rect">
            <a:avLst/>
          </a:prstGeom>
        </p:spPr>
      </p:pic>
      <p:sp>
        <p:nvSpPr>
          <p:cNvPr id="17" name="Goal title 3"/>
          <p:cNvSpPr txBox="1"/>
          <p:nvPr/>
        </p:nvSpPr>
        <p:spPr>
          <a:xfrm>
            <a:off x="69037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2000" dirty="0"/>
          </a:p>
        </p:txBody>
      </p:sp>
      <p:sp>
        <p:nvSpPr>
          <p:cNvPr id="18" name="Goal text 3"/>
          <p:cNvSpPr txBox="1"/>
          <p:nvPr/>
        </p:nvSpPr>
        <p:spPr>
          <a:xfrm>
            <a:off x="621792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Test fairness by sex, race and age; expose proxies and limits.</a:t>
            </a:r>
            <a:endParaRPr lang="en-US" sz="1400" dirty="0"/>
          </a:p>
        </p:txBody>
      </p:sp>
      <p:sp>
        <p:nvSpPr>
          <p:cNvPr id="19" name="Success criteria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9D8F"/>
                </a:solidFill>
              </a:rPr>
              <a:t>Success: AUC of at least 0.85, calibrated probabilities, subgroup gaps with confidence intervals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data and its quality</a:t>
            </a:r>
            <a:endParaRPr lang="en-US" sz="3000" dirty="0"/>
          </a:p>
        </p:txBody>
      </p:sp>
      <p:sp>
        <p:nvSpPr>
          <p:cNvPr id="3" name="Stat records card"/>
          <p:cNvSpPr/>
          <p:nvPr/>
        </p:nvSpPr>
        <p:spPr>
          <a:xfrm>
            <a:off x="457200" y="118872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records value"/>
          <p:cNvSpPr txBox="1"/>
          <p:nvPr/>
        </p:nvSpPr>
        <p:spPr>
          <a:xfrm>
            <a:off x="54864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48,790</a:t>
            </a:r>
            <a:endParaRPr lang="en-US" sz="3200" dirty="0"/>
          </a:p>
        </p:txBody>
      </p:sp>
      <p:sp>
        <p:nvSpPr>
          <p:cNvPr id="5" name="Stat records label"/>
          <p:cNvSpPr txBox="1"/>
          <p:nvPr/>
        </p:nvSpPr>
        <p:spPr>
          <a:xfrm>
            <a:off x="54864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records after removing 52 duplicates</a:t>
            </a:r>
            <a:endParaRPr lang="en-US" sz="1200" dirty="0"/>
          </a:p>
        </p:txBody>
      </p:sp>
      <p:sp>
        <p:nvSpPr>
          <p:cNvPr id="6" name="Stat rate card"/>
          <p:cNvSpPr/>
          <p:nvPr/>
        </p:nvSpPr>
        <p:spPr>
          <a:xfrm>
            <a:off x="2468880" y="118872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rate value"/>
          <p:cNvSpPr txBox="1"/>
          <p:nvPr/>
        </p:nvSpPr>
        <p:spPr>
          <a:xfrm>
            <a:off x="256032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3200" dirty="0"/>
          </a:p>
        </p:txBody>
      </p:sp>
      <p:sp>
        <p:nvSpPr>
          <p:cNvPr id="8" name="Stat rate label"/>
          <p:cNvSpPr txBox="1"/>
          <p:nvPr/>
        </p:nvSpPr>
        <p:spPr>
          <a:xfrm>
            <a:off x="256032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earn more than $50K (1994 dollars)</a:t>
            </a:r>
            <a:endParaRPr lang="en-US" sz="1200" dirty="0"/>
          </a:p>
        </p:txBody>
      </p:sp>
      <p:sp>
        <p:nvSpPr>
          <p:cNvPr id="9" name="Stat missing card"/>
          <p:cNvSpPr/>
          <p:nvPr/>
        </p:nvSpPr>
        <p:spPr>
          <a:xfrm>
            <a:off x="4480560" y="118872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missing value"/>
          <p:cNvSpPr txBox="1"/>
          <p:nvPr/>
        </p:nvSpPr>
        <p:spPr>
          <a:xfrm>
            <a:off x="457200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5.8%</a:t>
            </a:r>
            <a:endParaRPr lang="en-US" sz="3200" dirty="0"/>
          </a:p>
        </p:txBody>
      </p:sp>
      <p:sp>
        <p:nvSpPr>
          <p:cNvPr id="11" name="Stat missing label"/>
          <p:cNvSpPr txBox="1"/>
          <p:nvPr/>
        </p:nvSpPr>
        <p:spPr>
          <a:xfrm>
            <a:off x="457200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occupation missing, coded as '?'</a:t>
            </a:r>
            <a:endParaRPr lang="en-US" sz="1200" dirty="0"/>
          </a:p>
        </p:txBody>
      </p:sp>
      <p:sp>
        <p:nvSpPr>
          <p:cNvPr id="12" name="Stat women card"/>
          <p:cNvSpPr/>
          <p:nvPr/>
        </p:nvSpPr>
        <p:spPr>
          <a:xfrm>
            <a:off x="6492240" y="1188720"/>
            <a:ext cx="21945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women value"/>
          <p:cNvSpPr txBox="1"/>
          <p:nvPr/>
        </p:nvSpPr>
        <p:spPr>
          <a:xfrm>
            <a:off x="658368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33.1%</a:t>
            </a:r>
            <a:endParaRPr lang="en-US" sz="3200" dirty="0"/>
          </a:p>
        </p:txBody>
      </p:sp>
      <p:sp>
        <p:nvSpPr>
          <p:cNvPr id="14" name="Stat women label"/>
          <p:cNvSpPr txBox="1"/>
          <p:nvPr/>
        </p:nvSpPr>
        <p:spPr>
          <a:xfrm>
            <a:off x="6583680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of records are women</a:t>
            </a:r>
            <a:endParaRPr lang="en-US" sz="1200" dirty="0"/>
          </a:p>
        </p:txBody>
      </p:sp>
      <p:sp>
        <p:nvSpPr>
          <p:cNvPr id="15" name="Missing header"/>
          <p:cNvSpPr txBox="1"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is not random</a:t>
            </a:r>
            <a:endParaRPr lang="en-US" sz="2000" dirty="0"/>
          </a:p>
        </p:txBody>
      </p:sp>
      <p:sp>
        <p:nvSpPr>
          <p:cNvPr id="16" name="Missing bullets"/>
          <p:cNvSpPr txBox="1"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People with a missing occupation: 9.4% high income, versus 24.8% otherwise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They work 31.8 hours a week versus 41.0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Decision: keep them as 'Unknown', do not drop or impute</a:t>
            </a:r>
            <a:endParaRPr lang="en-US" sz="1400" dirty="0"/>
          </a:p>
        </p:txBody>
      </p:sp>
      <p:sp>
        <p:nvSpPr>
          <p:cNvPr id="17" name="Issues header"/>
          <p:cNvSpPr txBox="1"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issues handled</a:t>
            </a:r>
            <a:endParaRPr lang="en-US" sz="2000" dirty="0"/>
          </a:p>
        </p:txBody>
      </p:sp>
      <p:sp>
        <p:nvSpPr>
          <p:cNvPr id="18" name="Issues bullets"/>
          <p:cNvSpPr txBox="1"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244 capital gains top-coded at 99,999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Gain and loss are zero for over 90% of people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Small groups: American Indian/Eskimo 1.0%, Other 0.8%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approach in five steps</a:t>
            </a:r>
            <a:endParaRPr lang="en-US" sz="3000" dirty="0"/>
          </a:p>
        </p:txBody>
      </p:sp>
      <p:sp>
        <p:nvSpPr>
          <p:cNvPr id="3" name="Step icon 1 circle"/>
          <p:cNvSpPr/>
          <p:nvPr/>
        </p:nvSpPr>
        <p:spPr>
          <a:xfrm>
            <a:off x="877824" y="141732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4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4" y="1611630"/>
            <a:ext cx="388620" cy="388620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457200" y="23774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Clean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502920" y="283464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Duplicates, missing data, top-coding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828800" y="1691640"/>
            <a:ext cx="274320" cy="22860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8" name="Step icon 2 circle"/>
          <p:cNvSpPr/>
          <p:nvPr/>
        </p:nvSpPr>
        <p:spPr>
          <a:xfrm>
            <a:off x="2542032" y="141732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9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42" y="1611630"/>
            <a:ext cx="388620" cy="388620"/>
          </a:xfrm>
          <a:prstGeom prst="rect">
            <a:avLst/>
          </a:prstGeom>
        </p:spPr>
      </p:pic>
      <p:sp>
        <p:nvSpPr>
          <p:cNvPr id="10" name="Step title 2"/>
          <p:cNvSpPr txBox="1"/>
          <p:nvPr/>
        </p:nvSpPr>
        <p:spPr>
          <a:xfrm>
            <a:off x="2121408" y="23774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Engineer</a:t>
            </a:r>
            <a:endParaRPr lang="en-US" sz="1800" dirty="0"/>
          </a:p>
        </p:txBody>
      </p:sp>
      <p:sp>
        <p:nvSpPr>
          <p:cNvPr id="11" name="Step text 2"/>
          <p:cNvSpPr txBox="1"/>
          <p:nvPr/>
        </p:nvSpPr>
        <p:spPr>
          <a:xfrm>
            <a:off x="2167128" y="283464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Age and hours bands, gain categories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493008" y="1691640"/>
            <a:ext cx="274320" cy="22860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3" name="Step icon 3 circle"/>
          <p:cNvSpPr/>
          <p:nvPr/>
        </p:nvSpPr>
        <p:spPr>
          <a:xfrm>
            <a:off x="4206240" y="141732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4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611630"/>
            <a:ext cx="388620" cy="388620"/>
          </a:xfrm>
          <a:prstGeom prst="rect">
            <a:avLst/>
          </a:prstGeom>
        </p:spPr>
      </p:pic>
      <p:sp>
        <p:nvSpPr>
          <p:cNvPr id="15" name="Step title 3"/>
          <p:cNvSpPr txBox="1"/>
          <p:nvPr/>
        </p:nvSpPr>
        <p:spPr>
          <a:xfrm>
            <a:off x="3785616" y="23774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Test</a:t>
            </a:r>
            <a:endParaRPr lang="en-US" sz="1800" dirty="0"/>
          </a:p>
        </p:txBody>
      </p:sp>
      <p:sp>
        <p:nvSpPr>
          <p:cNvPr id="16" name="Step text 3"/>
          <p:cNvSpPr txBox="1"/>
          <p:nvPr/>
        </p:nvSpPr>
        <p:spPr>
          <a:xfrm>
            <a:off x="3831336" y="283464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Chi-square, t-tests, logistic regression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157216" y="1691640"/>
            <a:ext cx="274320" cy="22860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8" name="Step icon 4 circle"/>
          <p:cNvSpPr/>
          <p:nvPr/>
        </p:nvSpPr>
        <p:spPr>
          <a:xfrm>
            <a:off x="5870448" y="141732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9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58" y="1611630"/>
            <a:ext cx="388620" cy="388620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5449824" y="23774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Model</a:t>
            </a:r>
            <a:endParaRPr lang="en-US" sz="1800" dirty="0"/>
          </a:p>
        </p:txBody>
      </p:sp>
      <p:sp>
        <p:nvSpPr>
          <p:cNvPr id="21" name="Step text 4"/>
          <p:cNvSpPr txBox="1"/>
          <p:nvPr/>
        </p:nvSpPr>
        <p:spPr>
          <a:xfrm>
            <a:off x="5495544" y="283464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4 models, CV, tuning, threshold</a:t>
            </a:r>
            <a:endParaRPr lang="en-US" sz="1400" dirty="0"/>
          </a:p>
        </p:txBody>
      </p:sp>
      <p:sp>
        <p:nvSpPr>
          <p:cNvPr id="22" name="Arrow 4"/>
          <p:cNvSpPr/>
          <p:nvPr/>
        </p:nvSpPr>
        <p:spPr>
          <a:xfrm>
            <a:off x="6821424" y="1691640"/>
            <a:ext cx="274320" cy="228600"/>
          </a:xfrm>
          <a:prstGeom prst="rightArrow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3" name="Step icon 5 circle"/>
          <p:cNvSpPr/>
          <p:nvPr/>
        </p:nvSpPr>
        <p:spPr>
          <a:xfrm>
            <a:off x="7534656" y="1417320"/>
            <a:ext cx="777240" cy="7772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4" name="Step icon 5" descr="Step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966" y="1611630"/>
            <a:ext cx="388620" cy="388620"/>
          </a:xfrm>
          <a:prstGeom prst="rect">
            <a:avLst/>
          </a:prstGeom>
        </p:spPr>
      </p:pic>
      <p:sp>
        <p:nvSpPr>
          <p:cNvPr id="25" name="Step title 5"/>
          <p:cNvSpPr txBox="1"/>
          <p:nvPr/>
        </p:nvSpPr>
        <p:spPr>
          <a:xfrm>
            <a:off x="7114032" y="23774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Audit</a:t>
            </a:r>
            <a:endParaRPr lang="en-US" sz="1800" dirty="0"/>
          </a:p>
        </p:txBody>
      </p:sp>
      <p:sp>
        <p:nvSpPr>
          <p:cNvPr id="26" name="Step text 5"/>
          <p:cNvSpPr txBox="1"/>
          <p:nvPr/>
        </p:nvSpPr>
        <p:spPr>
          <a:xfrm>
            <a:off x="7159752" y="283464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Calibration, subgroups, proxies</a:t>
            </a:r>
            <a:endParaRPr lang="en-US" sz="1400" dirty="0"/>
          </a:p>
        </p:txBody>
      </p:sp>
      <p:sp>
        <p:nvSpPr>
          <p:cNvPr id="27" name="Method note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</a:rPr>
              <a:t>Train and test split 75/25; all tuning on the training set only; test set used once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Education and age drive income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Each extra year of education multiplies the odds by 1.31 (adjusted). Income peaks near age 50 then falls as people reduce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gender gap: explained, but not fully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gap card"/>
          <p:cNvSpPr/>
          <p:nvPr/>
        </p:nvSpPr>
        <p:spPr>
          <a:xfrm>
            <a:off x="5394960" y="118872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gap value"/>
          <p:cNvSpPr txBox="1"/>
          <p:nvPr/>
        </p:nvSpPr>
        <p:spPr>
          <a:xfrm>
            <a:off x="5486400" y="1280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30.4% vs 10.9%</a:t>
            </a:r>
            <a:endParaRPr lang="en-US" sz="3200" dirty="0"/>
          </a:p>
        </p:txBody>
      </p:sp>
      <p:sp>
        <p:nvSpPr>
          <p:cNvPr id="6" name="Stat gap label"/>
          <p:cNvSpPr txBox="1"/>
          <p:nvPr/>
        </p:nvSpPr>
        <p:spPr>
          <a:xfrm>
            <a:off x="548640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men vs women above $50K</a:t>
            </a:r>
            <a:endParaRPr lang="en-US" sz="1200" dirty="0"/>
          </a:p>
        </p:txBody>
      </p:sp>
      <p:sp>
        <p:nvSpPr>
          <p:cNvPr id="7" name="Stat explained card"/>
          <p:cNvSpPr/>
          <p:nvPr/>
        </p:nvSpPr>
        <p:spPr>
          <a:xfrm>
            <a:off x="5394960" y="2468880"/>
            <a:ext cx="3291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explained value"/>
          <p:cNvSpPr txBox="1"/>
          <p:nvPr/>
        </p:nvSpPr>
        <p:spPr>
          <a:xfrm>
            <a:off x="548640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85.8%</a:t>
            </a:r>
            <a:endParaRPr lang="en-US" sz="3200" dirty="0"/>
          </a:p>
        </p:txBody>
      </p:sp>
      <p:sp>
        <p:nvSpPr>
          <p:cNvPr id="9" name="Stat explained label"/>
          <p:cNvSpPr txBox="1"/>
          <p:nvPr/>
        </p:nvSpPr>
        <p:spPr>
          <a:xfrm>
            <a:off x="548640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of log-odds gap accounted for by observed factors</a:t>
            </a:r>
            <a:endParaRPr lang="en-US" sz="1200" dirty="0"/>
          </a:p>
        </p:txBody>
      </p:sp>
      <p:sp>
        <p:nvSpPr>
          <p:cNvPr id="10" name="Gap note"/>
          <p:cNvSpPr txBox="1"/>
          <p:nvPr/>
        </p:nvSpPr>
        <p:spPr>
          <a:xfrm>
            <a:off x="539496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Adjusted odds ratio for women: 0.84 (95% CI 0.77 to 0.91), so a significant gap remains.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Household status and education matter most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ramers bullets"/>
          <p:cNvSpPr txBox="1"/>
          <p:nvPr/>
        </p:nvSpPr>
        <p:spPr>
          <a:xfrm>
            <a:off x="576072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All 10 features are significant after Holm correction, but strength varies tenfold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Relationship and marital status are proxies for age and household, and they also reveal sex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Sex (0.21) outranks race (0.10), country (0.06) is negligible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comparison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auc card"/>
          <p:cNvSpPr/>
          <p:nvPr/>
        </p:nvSpPr>
        <p:spPr>
          <a:xfrm>
            <a:off x="5577840" y="1188720"/>
            <a:ext cx="3108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auc value"/>
          <p:cNvSpPr txBox="1"/>
          <p:nvPr/>
        </p:nvSpPr>
        <p:spPr>
          <a:xfrm>
            <a:off x="566928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0.928</a:t>
            </a:r>
            <a:endParaRPr lang="en-US" sz="3200" dirty="0"/>
          </a:p>
        </p:txBody>
      </p:sp>
      <p:sp>
        <p:nvSpPr>
          <p:cNvPr id="6" name="Stat auc label"/>
          <p:cNvSpPr txBox="1"/>
          <p:nvPr/>
        </p:nvSpPr>
        <p:spPr>
          <a:xfrm>
            <a:off x="5669280" y="1901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final test AUC (95% CI 0.922 to 0.932)</a:t>
            </a:r>
            <a:endParaRPr lang="en-US" sz="1200" dirty="0"/>
          </a:p>
        </p:txBody>
      </p:sp>
      <p:sp>
        <p:nvSpPr>
          <p:cNvPr id="7" name="Stat pr card"/>
          <p:cNvSpPr/>
          <p:nvPr/>
        </p:nvSpPr>
        <p:spPr>
          <a:xfrm>
            <a:off x="5577840" y="2468880"/>
            <a:ext cx="3108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pr value"/>
          <p:cNvSpPr txBox="1"/>
          <p:nvPr/>
        </p:nvSpPr>
        <p:spPr>
          <a:xfrm>
            <a:off x="566928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67.1% / 77.5%</a:t>
            </a:r>
            <a:endParaRPr lang="en-US" sz="3200" dirty="0"/>
          </a:p>
        </p:txBody>
      </p:sp>
      <p:sp>
        <p:nvSpPr>
          <p:cNvPr id="9" name="Stat pr label"/>
          <p:cNvSpPr txBox="1"/>
          <p:nvPr/>
        </p:nvSpPr>
        <p:spPr>
          <a:xfrm>
            <a:off x="5669280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precision / recall at threshold 0.37</a:t>
            </a:r>
            <a:endParaRPr lang="en-US" sz="1200" dirty="0"/>
          </a:p>
        </p:txBody>
      </p:sp>
      <p:sp>
        <p:nvSpPr>
          <p:cNvPr id="10" name="Tuning note"/>
          <p:cNvSpPr txBox="1"/>
          <p:nvPr/>
        </p:nvSpPr>
        <p:spPr>
          <a:xfrm>
            <a:off x="557784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Tuning did not help: 0.9276 tuned versus 0.9289 default.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Probabilities can be trusted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ece card"/>
          <p:cNvSpPr/>
          <p:nvPr/>
        </p:nvSpPr>
        <p:spPr>
          <a:xfrm>
            <a:off x="5760720" y="118872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ece value"/>
          <p:cNvSpPr txBox="1"/>
          <p:nvPr/>
        </p:nvSpPr>
        <p:spPr>
          <a:xfrm>
            <a:off x="585216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</a:t>
            </a:r>
            <a:endParaRPr lang="en-US" sz="3200" dirty="0"/>
          </a:p>
        </p:txBody>
      </p:sp>
      <p:sp>
        <p:nvSpPr>
          <p:cNvPr id="6" name="Stat ece label"/>
          <p:cNvSpPr txBox="1"/>
          <p:nvPr/>
        </p:nvSpPr>
        <p:spPr>
          <a:xfrm>
            <a:off x="58521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expected calibration error</a:t>
            </a:r>
            <a:endParaRPr lang="en-US" sz="1200" dirty="0"/>
          </a:p>
        </p:txBody>
      </p:sp>
      <p:sp>
        <p:nvSpPr>
          <p:cNvPr id="7" name="Stat unc card"/>
          <p:cNvSpPr/>
          <p:nvPr/>
        </p:nvSpPr>
        <p:spPr>
          <a:xfrm>
            <a:off x="576072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unc value"/>
          <p:cNvSpPr txBox="1"/>
          <p:nvPr/>
        </p:nvSpPr>
        <p:spPr>
          <a:xfrm>
            <a:off x="585216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3200" dirty="0"/>
          </a:p>
        </p:txBody>
      </p:sp>
      <p:sp>
        <p:nvSpPr>
          <p:cNvPr id="9" name="Stat unc label"/>
          <p:cNvSpPr txBox="1"/>
          <p:nvPr/>
        </p:nvSpPr>
        <p:spPr>
          <a:xfrm>
            <a:off x="585216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of people in the uncertain 0.3 to 0.7 zone</a:t>
            </a:r>
            <a:endParaRPr lang="en-US" sz="1200" dirty="0"/>
          </a:p>
        </p:txBody>
      </p:sp>
      <p:sp>
        <p:nvSpPr>
          <p:cNvPr id="10" name="Calibration note"/>
          <p:cNvSpPr txBox="1"/>
          <p:nvPr/>
        </p:nvSpPr>
        <p:spPr>
          <a:xfrm>
            <a:off x="576072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Slightly over-confident in the middle, under-confident near the top.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Fairness audit by sex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parity card"/>
          <p:cNvSpPr/>
          <p:nvPr/>
        </p:nvSpPr>
        <p:spPr>
          <a:xfrm>
            <a:off x="5760720" y="118872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parity value"/>
          <p:cNvSpPr txBox="1"/>
          <p:nvPr/>
        </p:nvSpPr>
        <p:spPr>
          <a:xfrm>
            <a:off x="585216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</a:t>
            </a:r>
            <a:endParaRPr lang="en-US" sz="3200" dirty="0"/>
          </a:p>
        </p:txBody>
      </p:sp>
      <p:sp>
        <p:nvSpPr>
          <p:cNvPr id="6" name="Stat parity label"/>
          <p:cNvSpPr txBox="1"/>
          <p:nvPr/>
        </p:nvSpPr>
        <p:spPr>
          <a:xfrm>
            <a:off x="58521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female/male selection ratio (80% rule says 0.80)</a:t>
            </a:r>
            <a:endParaRPr lang="en-US" sz="1200" dirty="0"/>
          </a:p>
        </p:txBody>
      </p:sp>
      <p:sp>
        <p:nvSpPr>
          <p:cNvPr id="7" name="Stat tpr card"/>
          <p:cNvSpPr/>
          <p:nvPr/>
        </p:nvSpPr>
        <p:spPr>
          <a:xfrm>
            <a:off x="5760720" y="2468880"/>
            <a:ext cx="29260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tpr value"/>
          <p:cNvSpPr txBox="1"/>
          <p:nvPr/>
        </p:nvSpPr>
        <p:spPr>
          <a:xfrm>
            <a:off x="585216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 pp</a:t>
            </a:r>
            <a:endParaRPr lang="en-US" sz="3200" dirty="0"/>
          </a:p>
        </p:txBody>
      </p:sp>
      <p:sp>
        <p:nvSpPr>
          <p:cNvPr id="9" name="Stat tpr label"/>
          <p:cNvSpPr txBox="1"/>
          <p:nvPr/>
        </p:nvSpPr>
        <p:spPr>
          <a:xfrm>
            <a:off x="585216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</a:rPr>
              <a:t>fewer high-earning women found than men</a:t>
            </a:r>
            <a:endParaRPr lang="en-US" sz="1200" dirty="0"/>
          </a:p>
        </p:txBody>
      </p:sp>
      <p:sp>
        <p:nvSpPr>
          <p:cNvPr id="10" name="Fairness note"/>
          <p:cNvSpPr txBox="1"/>
          <p:nvPr/>
        </p:nvSpPr>
        <p:spPr>
          <a:xfrm>
            <a:off x="576072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Ratio is below the base-rate ratio of 0.38: the model amplifies the gap.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Removing sex does not remove bias</a:t>
            </a:r>
            <a:endParaRPr lang="en-US" sz="3000" dirty="0"/>
          </a:p>
        </p:txBody>
      </p:sp>
      <p:sp>
        <p:nvSpPr>
          <p:cNvPr id="3" name="Proxy hero card"/>
          <p:cNvSpPr/>
          <p:nvPr/>
        </p:nvSpPr>
        <p:spPr>
          <a:xfrm>
            <a:off x="45720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roxy hero value"/>
          <p:cNvSpPr txBox="1"/>
          <p:nvPr/>
        </p:nvSpPr>
        <p:spPr>
          <a:xfrm>
            <a:off x="64008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0.936</a:t>
            </a:r>
            <a:endParaRPr lang="en-US" sz="6000" dirty="0"/>
          </a:p>
        </p:txBody>
      </p:sp>
      <p:sp>
        <p:nvSpPr>
          <p:cNvPr id="5" name="Proxy hero label"/>
          <p:cNvSpPr txBox="1"/>
          <p:nvPr/>
        </p:nvSpPr>
        <p:spPr>
          <a:xfrm>
            <a:off x="73152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AUC for guessing a person's sex from the 'unaware' features</a:t>
            </a:r>
            <a:endParaRPr lang="en-US" sz="1600" dirty="0"/>
          </a:p>
        </p:txBody>
      </p:sp>
      <p:sp>
        <p:nvSpPr>
          <p:cNvPr id="6" name="Proxy hero caption"/>
          <p:cNvSpPr txBox="1"/>
          <p:nvPr/>
        </p:nvSpPr>
        <p:spPr>
          <a:xfrm>
            <a:off x="73152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E3E8"/>
                </a:solidFill>
              </a:rPr>
              <a:t>1.0 would be perfect; 0.5 would be a guess</a:t>
            </a:r>
            <a:endParaRPr lang="en-US" sz="1200" dirty="0"/>
          </a:p>
        </p:txBody>
      </p:sp>
      <p:graphicFrame>
        <p:nvGraphicFramePr>
          <p:cNvPr id="12" name="Prox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Female/male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sex and 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sex and 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Proxy bullets"/>
          <p:cNvSpPr txBox="1"/>
          <p:nvPr/>
        </p:nvSpPr>
        <p:spPr>
          <a:xfrm>
            <a:off x="4572000" y="28803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Relationship, marital status, occupation and hours act as proxies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Adding or dropping the sex column changes almost nothing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4653"/>
                </a:solidFill>
              </a:rPr>
              <a:t>So 'fairness through unawareness' fails: monitor outcomes by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Biases and limitations</a:t>
            </a:r>
            <a:endParaRPr lang="en-US" sz="3000" dirty="0"/>
          </a:p>
        </p:txBody>
      </p:sp>
      <p:sp>
        <p:nvSpPr>
          <p:cNvPr id="3" name="Limit card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 icon 1 circl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Limit icon 1" descr="Lim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40180"/>
            <a:ext cx="228600" cy="228600"/>
          </a:xfrm>
          <a:prstGeom prst="rect">
            <a:avLst/>
          </a:prstGeom>
        </p:spPr>
      </p:pic>
      <p:sp>
        <p:nvSpPr>
          <p:cNvPr id="6" name="Limit title 1"/>
          <p:cNvSpPr txBox="1"/>
          <p:nvPr/>
        </p:nvSpPr>
        <p:spPr>
          <a:xfrm>
            <a:off x="11430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600" dirty="0"/>
          </a:p>
        </p:txBody>
      </p:sp>
      <p:sp>
        <p:nvSpPr>
          <p:cNvPr id="7" name="Limit text 1"/>
          <p:cNvSpPr txBox="1"/>
          <p:nvPr/>
        </p:nvSpPr>
        <p:spPr>
          <a:xfrm>
            <a:off x="59436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1994 data and a 1994 $50K threshold</a:t>
            </a:r>
            <a:endParaRPr lang="en-US" sz="1400" dirty="0"/>
          </a:p>
        </p:txBody>
      </p:sp>
      <p:sp>
        <p:nvSpPr>
          <p:cNvPr id="8" name="Limit card 2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 icon 2 circle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Limit icon 2" descr="Lim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440180"/>
            <a:ext cx="228600" cy="228600"/>
          </a:xfrm>
          <a:prstGeom prst="rect">
            <a:avLst/>
          </a:prstGeom>
        </p:spPr>
      </p:pic>
      <p:sp>
        <p:nvSpPr>
          <p:cNvPr id="11" name="Limit title 2"/>
          <p:cNvSpPr txBox="1"/>
          <p:nvPr/>
        </p:nvSpPr>
        <p:spPr>
          <a:xfrm>
            <a:off x="39319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12" name="Limit text 2"/>
          <p:cNvSpPr txBox="1"/>
          <p:nvPr/>
        </p:nvSpPr>
        <p:spPr>
          <a:xfrm>
            <a:off x="338328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Some groups have about 100 test rows; wide intervals</a:t>
            </a:r>
            <a:endParaRPr lang="en-US" sz="1400" dirty="0"/>
          </a:p>
        </p:txBody>
      </p:sp>
      <p:sp>
        <p:nvSpPr>
          <p:cNvPr id="13" name="Limit card 3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 icon 3 circle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Limit icon 3" descr="Lim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0180"/>
            <a:ext cx="228600" cy="228600"/>
          </a:xfrm>
          <a:prstGeom prst="rect">
            <a:avLst/>
          </a:prstGeom>
        </p:spPr>
      </p:pic>
      <p:sp>
        <p:nvSpPr>
          <p:cNvPr id="16" name="Limit title 3"/>
          <p:cNvSpPr txBox="1"/>
          <p:nvPr/>
        </p:nvSpPr>
        <p:spPr>
          <a:xfrm>
            <a:off x="67208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</a:t>
            </a:r>
            <a:endParaRPr lang="en-US" sz="1600" dirty="0"/>
          </a:p>
        </p:txBody>
      </p:sp>
      <p:sp>
        <p:nvSpPr>
          <p:cNvPr id="17" name="Limit text 3"/>
          <p:cNvSpPr txBox="1"/>
          <p:nvPr/>
        </p:nvSpPr>
        <p:spPr>
          <a:xfrm>
            <a:off x="61722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Past inequality is learned and slightly amplified</a:t>
            </a:r>
            <a:endParaRPr lang="en-US" sz="1400" dirty="0"/>
          </a:p>
        </p:txBody>
      </p:sp>
      <p:sp>
        <p:nvSpPr>
          <p:cNvPr id="18" name="Limit card 4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mit icon 4 circle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0" name="Limit icon 4" descr="Limi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3131820"/>
            <a:ext cx="228600" cy="228600"/>
          </a:xfrm>
          <a:prstGeom prst="rect">
            <a:avLst/>
          </a:prstGeom>
        </p:spPr>
      </p:pic>
      <p:sp>
        <p:nvSpPr>
          <p:cNvPr id="21" name="Limit title 4"/>
          <p:cNvSpPr txBox="1"/>
          <p:nvPr/>
        </p:nvSpPr>
        <p:spPr>
          <a:xfrm>
            <a:off x="1143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22" name="Limit text 4"/>
          <p:cNvSpPr txBox="1"/>
          <p:nvPr/>
        </p:nvSpPr>
        <p:spPr>
          <a:xfrm>
            <a:off x="59436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Top-coding, binary income, non-random missing data</a:t>
            </a:r>
            <a:endParaRPr lang="en-US" sz="1400" dirty="0"/>
          </a:p>
        </p:txBody>
      </p:sp>
      <p:sp>
        <p:nvSpPr>
          <p:cNvPr id="23" name="Limit card 5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imit icon 5 circle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5" name="Limit icon 5" descr="Limit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3131820"/>
            <a:ext cx="228600" cy="228600"/>
          </a:xfrm>
          <a:prstGeom prst="rect">
            <a:avLst/>
          </a:prstGeom>
        </p:spPr>
      </p:pic>
      <p:sp>
        <p:nvSpPr>
          <p:cNvPr id="26" name="Limit title 5"/>
          <p:cNvSpPr txBox="1"/>
          <p:nvPr/>
        </p:nvSpPr>
        <p:spPr>
          <a:xfrm>
            <a:off x="39319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Proxies and omissions</a:t>
            </a:r>
            <a:endParaRPr lang="en-US" sz="1600" dirty="0"/>
          </a:p>
        </p:txBody>
      </p:sp>
      <p:sp>
        <p:nvSpPr>
          <p:cNvPr id="27" name="Limit text 5"/>
          <p:cNvSpPr txBox="1"/>
          <p:nvPr/>
        </p:nvSpPr>
        <p:spPr>
          <a:xfrm>
            <a:off x="338328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No experience, industry or region; bad controls</a:t>
            </a:r>
            <a:endParaRPr lang="en-US" sz="1400" dirty="0"/>
          </a:p>
        </p:txBody>
      </p:sp>
      <p:sp>
        <p:nvSpPr>
          <p:cNvPr id="28" name="Limit card 6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Limit icon 6 circle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0" name="Limit icon 6" descr="Limit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131820"/>
            <a:ext cx="228600" cy="228600"/>
          </a:xfrm>
          <a:prstGeom prst="rect">
            <a:avLst/>
          </a:prstGeom>
        </p:spPr>
      </p:pic>
      <p:sp>
        <p:nvSpPr>
          <p:cNvPr id="31" name="Limit title 6"/>
          <p:cNvSpPr txBox="1"/>
          <p:nvPr/>
        </p:nvSpPr>
        <p:spPr>
          <a:xfrm>
            <a:off x="67208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32" name="Limit text 6"/>
          <p:cNvSpPr txBox="1"/>
          <p:nvPr/>
        </p:nvSpPr>
        <p:spPr>
          <a:xfrm>
            <a:off x="617220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</a:rPr>
              <a:t>3:1 imbalance, 20.0% uncertain, no out-of-time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Rec badg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Rec number 1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ec text 1"/>
          <p:cNvSpPr txBox="1"/>
          <p:nvPr/>
        </p:nvSpPr>
        <p:spPr>
          <a:xfrm>
            <a:off x="1051560" y="114300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Use the model for group-level planning only, never for individual decisions</a:t>
            </a:r>
            <a:endParaRPr lang="en-US" sz="1500" dirty="0"/>
          </a:p>
        </p:txBody>
      </p:sp>
      <p:sp>
        <p:nvSpPr>
          <p:cNvPr id="6" name="Rec badge 2"/>
          <p:cNvSpPr/>
          <p:nvPr/>
        </p:nvSpPr>
        <p:spPr>
          <a:xfrm>
            <a:off x="457200" y="170992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Rec number 2"/>
          <p:cNvSpPr txBox="1"/>
          <p:nvPr/>
        </p:nvSpPr>
        <p:spPr>
          <a:xfrm>
            <a:off x="4572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Rec text 2"/>
          <p:cNvSpPr txBox="1"/>
          <p:nvPr/>
        </p:nvSpPr>
        <p:spPr>
          <a:xfrm>
            <a:off x="1051560" y="1709928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Prioritise education pathways and access to full-time work</a:t>
            </a:r>
            <a:endParaRPr lang="en-US" sz="1500" dirty="0"/>
          </a:p>
        </p:txBody>
      </p:sp>
      <p:sp>
        <p:nvSpPr>
          <p:cNvPr id="9" name="Rec badge 3"/>
          <p:cNvSpPr/>
          <p:nvPr/>
        </p:nvSpPr>
        <p:spPr>
          <a:xfrm>
            <a:off x="457200" y="2276856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Rec number 3"/>
          <p:cNvSpPr txBox="1"/>
          <p:nvPr/>
        </p:nvSpPr>
        <p:spPr>
          <a:xfrm>
            <a:off x="45720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Rec text 3"/>
          <p:cNvSpPr txBox="1"/>
          <p:nvPr/>
        </p:nvSpPr>
        <p:spPr>
          <a:xfrm>
            <a:off x="1051560" y="2276856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Re-validate on current data; monitor selection rate, recall and calibration by group</a:t>
            </a:r>
            <a:endParaRPr lang="en-US" sz="1500" dirty="0"/>
          </a:p>
        </p:txBody>
      </p:sp>
      <p:sp>
        <p:nvSpPr>
          <p:cNvPr id="12" name="Rec badge 4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Rec number 4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Rec text 4"/>
          <p:cNvSpPr txBox="1"/>
          <p:nvPr/>
        </p:nvSpPr>
        <p:spPr>
          <a:xfrm>
            <a:off x="1051560" y="2843784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Choose and document a fairness criterion with legal review before any deployment</a:t>
            </a:r>
            <a:endParaRPr lang="en-US" sz="1500" dirty="0"/>
          </a:p>
        </p:txBody>
      </p:sp>
      <p:sp>
        <p:nvSpPr>
          <p:cNvPr id="15" name="Rec badge 5"/>
          <p:cNvSpPr/>
          <p:nvPr/>
        </p:nvSpPr>
        <p:spPr>
          <a:xfrm>
            <a:off x="457200" y="3410712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Rec number 5"/>
          <p:cNvSpPr txBox="1"/>
          <p:nvPr/>
        </p:nvSpPr>
        <p:spPr>
          <a:xfrm>
            <a:off x="45720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Rec text 5"/>
          <p:cNvSpPr txBox="1"/>
          <p:nvPr/>
        </p:nvSpPr>
        <p:spPr>
          <a:xfrm>
            <a:off x="1051560" y="3410712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Send borderline cases (probability 0.3 to 0.7) to human review</a:t>
            </a:r>
            <a:endParaRPr lang="en-US" sz="1500" dirty="0"/>
          </a:p>
        </p:txBody>
      </p:sp>
      <p:sp>
        <p:nvSpPr>
          <p:cNvPr id="18" name="Rec badge 6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Rec number 6"/>
          <p:cNvSpPr txBox="1"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Rec text 6"/>
          <p:cNvSpPr txBox="1"/>
          <p:nvPr/>
        </p:nvSpPr>
        <p:spPr>
          <a:xfrm>
            <a:off x="1051560" y="397764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Collect richer data: experience, industry, region, hours history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3" name="Conclusion header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showed</a:t>
            </a:r>
            <a:endParaRPr lang="en-US" sz="2000" dirty="0"/>
          </a:p>
        </p:txBody>
      </p:sp>
      <p:sp>
        <p:nvSpPr>
          <p:cNvPr id="4" name="Conclusion bullets"/>
          <p:cNvSpPr txBox="1"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 strong model (AUC 0.928) that needs neither sex nor race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Education, household status, capital gains and hours explain most variation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audit found proxies, a 0.29 selection ratio and a 13-point recall gap</a:t>
            </a:r>
            <a:endParaRPr lang="en-US" sz="1700" dirty="0"/>
          </a:p>
        </p:txBody>
      </p:sp>
      <p:sp>
        <p:nvSpPr>
          <p:cNvPr id="5" name="Future header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2000" dirty="0"/>
          </a:p>
        </p:txBody>
      </p:sp>
      <p:sp>
        <p:nvSpPr>
          <p:cNvPr id="6" name="Future bullets"/>
          <p:cNvSpPr txBox="1"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Validate on newer data (American Community Survey)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Causal methods for the effect of education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Quantile regression on the income amount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Fairness-constrained learning and SHAP explanations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Census">
  <a:themeElements>
    <a:clrScheme name="Capstone Census">
      <a:dk1>
        <a:srgbClr val="1B2A41"/>
      </a:dk1>
      <a:lt1>
        <a:srgbClr val="FFFFFF"/>
      </a:lt1>
      <a:dk2>
        <a:srgbClr val="264653"/>
      </a:dk2>
      <a:lt2>
        <a:srgbClr val="EEF3F6"/>
      </a:lt2>
      <a:accent1>
        <a:srgbClr val="2A9D8F"/>
      </a:accent1>
      <a:accent2>
        <a:srgbClr val="E9C46A"/>
      </a:accent2>
      <a:accent3>
        <a:srgbClr val="E76F51"/>
      </a:accent3>
      <a:accent4>
        <a:srgbClr val="264653"/>
      </a:accent4>
      <a:accent5>
        <a:srgbClr val="8AB17D"/>
      </a:accent5>
      <a:accent6>
        <a:srgbClr val="6C757D"/>
      </a:accent6>
      <a:hlink>
        <a:srgbClr val="2A9D8F"/>
      </a:hlink>
      <a:folHlink>
        <a:srgbClr val="6C757D"/>
      </a:folHlink>
    </a:clrScheme>
    <a:fontScheme name="Capstone Cens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 Science Capstone</dc:title>
  <dc:subject>PptxGenJS Presentation</dc:subject>
  <dc:creator>Ambrisan</dc:creator>
  <cp:lastModifiedBy>Ambrisan</cp:lastModifiedBy>
  <cp:revision>1</cp:revision>
  <dcterms:created xsi:type="dcterms:W3CDTF">2026-10-30T03:04:10Z</dcterms:created>
  <dcterms:modified xsi:type="dcterms:W3CDTF">2026-10-30T03:04:10Z</dcterms:modified>
</cp:coreProperties>
</file>